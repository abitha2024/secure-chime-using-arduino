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Libre Franklin"/>
      <p:regular r:id="rId17"/>
      <p:bold r:id="rId18"/>
      <p:italic r:id="rId19"/>
      <p:boldItalic r:id="rId20"/>
    </p:embeddedFont>
    <p:embeddedFont>
      <p:font typeface="Palatino Linotype"/>
      <p:regular r:id="rId21"/>
      <p:bold r:id="rId22"/>
      <p:italic r:id="rId23"/>
      <p:boldItalic r:id="rId24"/>
    </p:embeddedFont>
    <p:embeddedFont>
      <p:font typeface="Libre Baskerville"/>
      <p:regular r:id="rId25"/>
      <p:bold r:id="rId26"/>
      <p:italic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1fpKUsvyqVCA/R1Gj+UouMWa7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Italic.fntdata"/><Relationship Id="rId22" Type="http://schemas.openxmlformats.org/officeDocument/2006/relationships/font" Target="fonts/PalatinoLinotype-bold.fntdata"/><Relationship Id="rId21" Type="http://schemas.openxmlformats.org/officeDocument/2006/relationships/font" Target="fonts/PalatinoLinotype-regular.fntdata"/><Relationship Id="rId24" Type="http://schemas.openxmlformats.org/officeDocument/2006/relationships/font" Target="fonts/PalatinoLinotype-boldItalic.fntdata"/><Relationship Id="rId23" Type="http://schemas.openxmlformats.org/officeDocument/2006/relationships/font" Target="fonts/PalatinoLinotyp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Baskerville-bold.fntdata"/><Relationship Id="rId25" Type="http://schemas.openxmlformats.org/officeDocument/2006/relationships/font" Target="fonts/LibreBaskerville-regular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LibreBaskervill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ibreFranklin-regular.fntdata"/><Relationship Id="rId16" Type="http://schemas.openxmlformats.org/officeDocument/2006/relationships/slide" Target="slides/slide11.xml"/><Relationship Id="rId19" Type="http://schemas.openxmlformats.org/officeDocument/2006/relationships/font" Target="fonts/LibreFranklin-italic.fntdata"/><Relationship Id="rId18" Type="http://schemas.openxmlformats.org/officeDocument/2006/relationships/font" Target="fonts/LibreFrankl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9" name="Google Shape;19;p13"/>
          <p:cNvSpPr/>
          <p:nvPr/>
        </p:nvSpPr>
        <p:spPr>
          <a:xfrm>
            <a:off x="87313" y="69850"/>
            <a:ext cx="12017375" cy="6692900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0" name="Google Shape;20;p13"/>
          <p:cNvSpPr/>
          <p:nvPr/>
        </p:nvSpPr>
        <p:spPr>
          <a:xfrm>
            <a:off x="84138" y="1449388"/>
            <a:ext cx="12028487" cy="152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1" name="Google Shape;21;p13"/>
          <p:cNvSpPr/>
          <p:nvPr/>
        </p:nvSpPr>
        <p:spPr>
          <a:xfrm>
            <a:off x="84138" y="1397000"/>
            <a:ext cx="12028487" cy="12065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2" name="Google Shape;22;p13"/>
          <p:cNvSpPr/>
          <p:nvPr/>
        </p:nvSpPr>
        <p:spPr>
          <a:xfrm>
            <a:off x="84138" y="2976563"/>
            <a:ext cx="12028487" cy="1111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1727200" y="3200400"/>
            <a:ext cx="8534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type="ctrTitle"/>
          </p:nvPr>
        </p:nvSpPr>
        <p:spPr>
          <a:xfrm>
            <a:off x="609600" y="1505931"/>
            <a:ext cx="109728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1219200" y="1447800"/>
            <a:ext cx="49987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6578600" y="1447800"/>
            <a:ext cx="49987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2" name="Google Shape;52;p18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3" name="Google Shape;53;p18"/>
          <p:cNvSpPr/>
          <p:nvPr/>
        </p:nvSpPr>
        <p:spPr>
          <a:xfrm flipH="1" rot="10800000">
            <a:off x="92075" y="2376488"/>
            <a:ext cx="12018963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4" name="Google Shape;54;p18"/>
          <p:cNvSpPr/>
          <p:nvPr/>
        </p:nvSpPr>
        <p:spPr>
          <a:xfrm>
            <a:off x="92075" y="2341563"/>
            <a:ext cx="12018963" cy="46037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5" name="Google Shape;55;p18"/>
          <p:cNvSpPr/>
          <p:nvPr/>
        </p:nvSpPr>
        <p:spPr>
          <a:xfrm>
            <a:off x="90488" y="2468563"/>
            <a:ext cx="12020550" cy="460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6" name="Google Shape;56;p18"/>
          <p:cNvSpPr txBox="1"/>
          <p:nvPr>
            <p:ph type="title"/>
          </p:nvPr>
        </p:nvSpPr>
        <p:spPr>
          <a:xfrm>
            <a:off x="963084" y="9525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" type="body"/>
          </p:nvPr>
        </p:nvSpPr>
        <p:spPr>
          <a:xfrm>
            <a:off x="963084" y="2547938"/>
            <a:ext cx="103632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/>
          <p:nvPr>
            <p:ph idx="12" type="sldNum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219200" y="27305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1219200" y="1447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2" type="body"/>
          </p:nvPr>
        </p:nvSpPr>
        <p:spPr>
          <a:xfrm>
            <a:off x="6604000" y="1447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3" type="body"/>
          </p:nvPr>
        </p:nvSpPr>
        <p:spPr>
          <a:xfrm>
            <a:off x="1219200" y="2247900"/>
            <a:ext cx="4978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4" type="body"/>
          </p:nvPr>
        </p:nvSpPr>
        <p:spPr>
          <a:xfrm>
            <a:off x="6604000" y="2247900"/>
            <a:ext cx="4978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72" name="Google Shape;72;p20"/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73" name="Google Shape;73;p20"/>
          <p:cNvSpPr txBox="1"/>
          <p:nvPr>
            <p:ph type="title"/>
          </p:nvPr>
        </p:nvSpPr>
        <p:spPr>
          <a:xfrm>
            <a:off x="1219200" y="27305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1219200" y="1600200"/>
            <a:ext cx="254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2" type="body"/>
          </p:nvPr>
        </p:nvSpPr>
        <p:spPr>
          <a:xfrm>
            <a:off x="3962400" y="1600200"/>
            <a:ext cx="762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 flipH="1" rot="10800000">
            <a:off x="90488" y="4683125"/>
            <a:ext cx="12009437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1" name="Google Shape;81;p21"/>
          <p:cNvSpPr/>
          <p:nvPr/>
        </p:nvSpPr>
        <p:spPr>
          <a:xfrm>
            <a:off x="92075" y="4649788"/>
            <a:ext cx="12007850" cy="46037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2" name="Google Shape;82;p21"/>
          <p:cNvSpPr/>
          <p:nvPr/>
        </p:nvSpPr>
        <p:spPr>
          <a:xfrm>
            <a:off x="92075" y="4773613"/>
            <a:ext cx="12007850" cy="492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1219200" y="4900550"/>
            <a:ext cx="97536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1219200" y="5445825"/>
            <a:ext cx="975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1"/>
          <p:cNvSpPr/>
          <p:nvPr>
            <p:ph idx="2" type="pic"/>
          </p:nvPr>
        </p:nvSpPr>
        <p:spPr>
          <a:xfrm>
            <a:off x="91078" y="66676"/>
            <a:ext cx="12002497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1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/>
          <p:nvPr>
            <p:ph idx="12" type="sldNum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 rot="5400000">
            <a:off x="4114800" y="-1447800"/>
            <a:ext cx="4572000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title"/>
          </p:nvPr>
        </p:nvSpPr>
        <p:spPr>
          <a:xfrm rot="5400000">
            <a:off x="7254558" y="1859285"/>
            <a:ext cx="5851525" cy="26822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" type="body"/>
          </p:nvPr>
        </p:nvSpPr>
        <p:spPr>
          <a:xfrm rot="5400000">
            <a:off x="2001838" y="-507996"/>
            <a:ext cx="5851525" cy="7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1" name="Google Shape;11;p12"/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" name="Google Shape;12;p12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6" name="Google Shape;16;p12"/>
          <p:cNvSpPr/>
          <p:nvPr>
            <p:ph idx="12" type="sldNum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gi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3100" y="176213"/>
            <a:ext cx="1196975" cy="119538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>
            <p:ph idx="1" type="subTitle"/>
          </p:nvPr>
        </p:nvSpPr>
        <p:spPr>
          <a:xfrm>
            <a:off x="171450" y="3354389"/>
            <a:ext cx="11856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 b="1" sz="31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lang="en-US" sz="31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ABITHA K R (2303811710622003)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AKALYA B (2303811710622008)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GAYATHRI K K (2303811710622026)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lang="en-US" sz="31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</a:t>
            </a:r>
            <a:r>
              <a:rPr b="1" i="1" lang="en-US" sz="3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                                         </a:t>
            </a:r>
            <a:endParaRPr/>
          </a:p>
          <a:p>
            <a:pPr indent="0" lvl="0" marL="0" rtl="0" algn="r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SUDHA P</a:t>
            </a:r>
            <a:endParaRPr b="1" i="1"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b="1" i="1"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ECE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rPr b="1" i="1" lang="en-US" sz="27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463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>
            <p:ph type="ctrTitle"/>
          </p:nvPr>
        </p:nvSpPr>
        <p:spPr>
          <a:xfrm>
            <a:off x="621322" y="1371600"/>
            <a:ext cx="115707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ECB1223 – MICROCONTROLLERS AND INTERFACING</a:t>
            </a:r>
            <a:b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MODULE 1 -  SECURE CHIME USING ARDUINO</a:t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6388"/>
            <a:ext cx="1041400" cy="73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1219200" y="274638"/>
            <a:ext cx="103632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7B57"/>
              </a:buClr>
              <a:buSzPts val="4000"/>
              <a:buFont typeface="Times New Roman"/>
              <a:buNone/>
            </a:pPr>
            <a:r>
              <a:rPr b="1" lang="en-US">
                <a:solidFill>
                  <a:srgbClr val="8B7B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1">
              <a:solidFill>
                <a:srgbClr val="8B7B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550" y="176213"/>
            <a:ext cx="1355700" cy="8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>
            <p:ph idx="2" type="body"/>
          </p:nvPr>
        </p:nvSpPr>
        <p:spPr>
          <a:xfrm>
            <a:off x="974725" y="1688125"/>
            <a:ext cx="7974300" cy="5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20"/>
              <a:buFont typeface="Noto Sans Symbols"/>
              <a:buChar char="❑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ABSTRACT –MODULE 1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020"/>
              <a:buFont typeface="Noto Sans Symbols"/>
              <a:buChar char="❑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274320" lvl="0" marL="27432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020"/>
              <a:buFont typeface="Noto Sans Symbols"/>
              <a:buChar char="❑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CIRCUIT DIAGRAM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❑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CIRCUIT DIAGRAM EXPLANATION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020"/>
              <a:buFont typeface="Noto Sans Symbols"/>
              <a:buChar char="❑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HARDWARE REQUIREMENT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020"/>
              <a:buFont typeface="Noto Sans Symbols"/>
              <a:buChar char="❑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ADVANTAGES  AND APPLICATIONS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020"/>
              <a:buFont typeface="Noto Sans Symbols"/>
              <a:buChar char="❑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02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020"/>
              <a:buNone/>
            </a:pPr>
            <a:r>
              <a:t/>
            </a:r>
            <a:endParaRPr/>
          </a:p>
          <a:p>
            <a:pPr indent="-209550" lvl="0" marL="27432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1020"/>
              <a:buFont typeface="Noto Sans Symbols"/>
              <a:buNone/>
            </a:pPr>
            <a:r>
              <a:t/>
            </a:r>
            <a:endParaRPr sz="1200"/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3100" y="176213"/>
            <a:ext cx="1196975" cy="119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ctrTitle"/>
          </p:nvPr>
        </p:nvSpPr>
        <p:spPr>
          <a:xfrm>
            <a:off x="609600" y="1506538"/>
            <a:ext cx="109728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MODULE 1 – SECURE CHIME USING ARDUINO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1219200" y="167425"/>
            <a:ext cx="9647700" cy="140206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ABSTRACT  - MODULE 1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768625" y="1826296"/>
            <a:ext cx="10547700" cy="812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Secure Chime using Ardunio and IR Sensor is a cost-effective and efficient solution designed to enhance home security and automation.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Traditional doorbells lack intelligent features and often require manual operation.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This project aims to modernize the conventional doorbell system by integrating an Infrared (IR) sensor, Ardunio microcontroller, and optional output modules such as buzzers, LEDs, or wireless notifications.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The IR sensor detects motion or presence near the door without physical contact.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When a person approaches the entrance, the IR sensor triggers the Ardunio, which then activates the doorbell system.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This contactless interaction not only ensures convenience but also supports hygiene and safety, particularly in public or high-traffic areas.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1219200" y="274638"/>
            <a:ext cx="103632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INTRODUCTION – MODULE 1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1155510" y="-1574418"/>
            <a:ext cx="9757500" cy="11495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 Smart alternative to traditional doorbells.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Uses IR sensor to detect human presence.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Ardunio controls the system operation.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Enables contactless activation of the doorbell.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Improves hygiene, security, and convenience.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Low-cost and easy to build.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Can be expanded with extra features like camera or wireless alerts.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144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3425780" y="274638"/>
            <a:ext cx="695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CIRCUIT DIAGRAM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142" name="Google Shape;14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700" y="1657350"/>
            <a:ext cx="78486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/>
        </p:nvSpPr>
        <p:spPr>
          <a:xfrm>
            <a:off x="2613450" y="449000"/>
            <a:ext cx="6965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CIRCUIT DIAGRAM EXPLANATION </a:t>
            </a:r>
            <a:endParaRPr b="1" i="0" sz="26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563250" y="1037588"/>
            <a:ext cx="11065500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Arduino UNO acts as the main controller, processing input from the IR sensor and controlling the output devices.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buzzer is used to produce a sound alert when a person is detected near the door.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LED can also be added for visual indication when someone is present at the door.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220Ω resistor is connected in series with the LED to limit current and prevent damage.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uses the 5V supply from Arduino to power the IR sensor and output devices.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no motion is detected, the IR sensor’s output remains LOW, and the Arduino takes no action.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IR sensor continuously monitors the area in front of the door for movement.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simple circuit provides automated alerting without any physical contact or manual pressing.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1219200" y="231820"/>
            <a:ext cx="10152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HARDWARE MODULE</a:t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1219200" y="927279"/>
            <a:ext cx="10363200" cy="50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IR Sensor (Infrared sensor),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Arduino UNO,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Jumper Wires,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Breadboard,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Buzzer,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USB Cable and laptop with arduino IDE.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4765" y="4607045"/>
            <a:ext cx="2730323" cy="173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0299" y="903923"/>
            <a:ext cx="5619115" cy="3384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6374" y="3207224"/>
            <a:ext cx="3131032" cy="3131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2356834" y="274638"/>
            <a:ext cx="92256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ADVANTAGES AND APPLICATIONS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1317450" y="1436100"/>
            <a:ext cx="9557100" cy="54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1. Contactless operation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2. Improved hygiene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3. Low cost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4. Easy installation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5. Energy efficient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800"/>
              <a:buFont typeface="Times New Roman"/>
              <a:buChar char="⚫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APPLICATIONS: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1. Apartments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2. Offices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3. Shops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4. Hospitals and clinics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5. Smart home systems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1219200" y="274638"/>
            <a:ext cx="947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914401" y="1992965"/>
            <a:ext cx="10363200" cy="3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⚫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smart doorbell using Arduino and IR sensor offers a modern, touchless solution for visitor detection.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⚫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enhances safety, hygiene, and convenience with a simple and cost-effective design.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⚫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project serves as a foundation for further development into fully integrated smart home systems.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>
            <p:ph type="title"/>
          </p:nvPr>
        </p:nvSpPr>
        <p:spPr>
          <a:xfrm>
            <a:off x="1774825" y="2756079"/>
            <a:ext cx="8090392" cy="97879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rgbClr val="8B7B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176" name="Google Shape;176;p11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11/21/2024</a:t>
            </a:r>
            <a:endParaRPr b="0" i="0" sz="14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77" name="Google Shape;177;p11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888" y="343079"/>
            <a:ext cx="1092200" cy="674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3100" y="176213"/>
            <a:ext cx="1196975" cy="119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range Red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